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9" r:id="rId3"/>
    <p:sldId id="261" r:id="rId4"/>
    <p:sldId id="258" r:id="rId5"/>
    <p:sldId id="260" r:id="rId6"/>
    <p:sldId id="263" r:id="rId7"/>
    <p:sldId id="262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1" autoAdjust="0"/>
    <p:restoredTop sz="94660"/>
  </p:normalViewPr>
  <p:slideViewPr>
    <p:cSldViewPr>
      <p:cViewPr varScale="1">
        <p:scale>
          <a:sx n="68" d="100"/>
          <a:sy n="68" d="100"/>
        </p:scale>
        <p:origin x="-14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ítulo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16" name="Espaço Reservado para Data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6D28-F9E1-4257-9316-ED6C6BBCC042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5" name="Espaço Reservado para Número de Slide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98496688-42C9-47A6-89D0-E337FB3FC04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ítulo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27" name="Espaço Reservado para Conteúdo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5" name="Espaço Reservado para Data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6D28-F9E1-4257-9316-ED6C6BBCC042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pt-BR"/>
          </a:p>
        </p:txBody>
      </p:sp>
      <p:sp>
        <p:nvSpPr>
          <p:cNvPr id="16" name="Espaço Reservado para Número de Slide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98496688-42C9-47A6-89D0-E337FB3FC04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9" name="Espaço Reservado para Data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6D28-F9E1-4257-9316-ED6C6BBCC042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11" name="Espaço Reservado para Rodapé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Espaço Reservado para Número de Slide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6688-42C9-47A6-89D0-E337FB3FC042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4" name="Espaço Reservado para Conteúdo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1" name="Espaço Reservado para Data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6D28-F9E1-4257-9316-ED6C6BBCC042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1" name="Espaço Reservado para Número de Slide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6688-42C9-47A6-89D0-E337FB3FC04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ítulo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6D28-F9E1-4257-9316-ED6C6BBCC042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98496688-42C9-47A6-89D0-E337FB3FC042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6D28-F9E1-4257-9316-ED6C6BBCC042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21" name="Espaço Reservado para Rodapé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6688-42C9-47A6-89D0-E337FB3FC04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6D28-F9E1-4257-9316-ED6C6BBCC042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24" name="Espaço Reservado para Rodapé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6688-42C9-47A6-89D0-E337FB3FC04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ítulo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5" name="Espaço Reservado para Data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6D28-F9E1-4257-9316-ED6C6BBCC042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29" name="Espaço Reservado para Rodapé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6688-42C9-47A6-89D0-E337FB3FC04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Imagem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6D28-F9E1-4257-9316-ED6C6BBCC042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1" name="Espaço Reservado para Número de Slide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6688-42C9-47A6-89D0-E337FB3FC042}" type="slidenum">
              <a:rPr lang="pt-BR" smtClean="0"/>
              <a:t>‹nº›</a:t>
            </a:fld>
            <a:endParaRPr lang="pt-BR"/>
          </a:p>
        </p:txBody>
      </p:sp>
      <p:sp>
        <p:nvSpPr>
          <p:cNvPr id="17" name="Título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6D28-F9E1-4257-9316-ED6C6BBCC042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6688-42C9-47A6-89D0-E337FB3FC04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A6D28-F9E1-4257-9316-ED6C6BBCC042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96688-42C9-47A6-89D0-E337FB3FC04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Data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BAFA6D28-F9E1-4257-9316-ED6C6BBCC042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28" name="Espaço Reservado para Rodapé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98496688-42C9-47A6-89D0-E337FB3FC042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Espaço Reservado para Título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Conector reto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Inteligência que recupera empresas, oportunidades que transformar negócios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RENOVA PJ</a:t>
            </a:r>
            <a:endParaRPr lang="pt-BR" dirty="0"/>
          </a:p>
        </p:txBody>
      </p:sp>
      <p:pic>
        <p:nvPicPr>
          <p:cNvPr id="4" name="Imagem 3" descr="logo-RS-0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956376" y="0"/>
            <a:ext cx="980728" cy="980728"/>
          </a:xfrm>
          <a:prstGeom prst="rect">
            <a:avLst/>
          </a:prstGeom>
        </p:spPr>
      </p:pic>
      <p:pic>
        <p:nvPicPr>
          <p:cNvPr id="5" name="Imagem 4" descr="itau_log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80312" y="260648"/>
            <a:ext cx="504056" cy="4955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SOLUÇÃO </a:t>
            </a:r>
            <a:r>
              <a:rPr lang="pt-BR" dirty="0" smtClean="0"/>
              <a:t>ANALÍCA - analitics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457200" y="17065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charset="0"/>
              <a:buChar char="•"/>
              <a:tabLst/>
              <a:defRPr/>
            </a:pPr>
            <a:r>
              <a:rPr lang="pt-BR" sz="1600" dirty="0" smtClean="0">
                <a:solidFill>
                  <a:schemeClr val="tx2"/>
                </a:solidFill>
              </a:rPr>
              <a:t>Objetivo: </a:t>
            </a:r>
            <a:r>
              <a:rPr lang="pt-BR" sz="1600" b="1" dirty="0" smtClean="0">
                <a:solidFill>
                  <a:schemeClr val="tx2"/>
                </a:solidFill>
              </a:rPr>
              <a:t>compreender</a:t>
            </a:r>
            <a:r>
              <a:rPr lang="pt-BR" sz="1600" dirty="0" smtClean="0">
                <a:solidFill>
                  <a:schemeClr val="tx2"/>
                </a:solidFill>
              </a:rPr>
              <a:t> principalmente os </a:t>
            </a:r>
            <a:r>
              <a:rPr lang="pt-BR" sz="1600" b="1" dirty="0" smtClean="0">
                <a:solidFill>
                  <a:schemeClr val="tx2"/>
                </a:solidFill>
              </a:rPr>
              <a:t>fatores influenciadores </a:t>
            </a:r>
            <a:r>
              <a:rPr lang="pt-BR" sz="1600" dirty="0" smtClean="0">
                <a:solidFill>
                  <a:schemeClr val="tx2"/>
                </a:solidFill>
              </a:rPr>
              <a:t>da regularização e não regularização.</a:t>
            </a:r>
            <a:endParaRPr kumimoji="0" lang="pt-BR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  <a:buClr>
                <a:schemeClr val="accent1"/>
              </a:buClr>
              <a:buSzPct val="70000"/>
              <a:buFont typeface="Arial" charset="0"/>
              <a:buChar char="•"/>
            </a:pPr>
            <a:r>
              <a:rPr lang="pt-BR" sz="1600" b="1" dirty="0" smtClean="0">
                <a:solidFill>
                  <a:schemeClr val="tx2"/>
                </a:solidFill>
              </a:rPr>
              <a:t>Base </a:t>
            </a:r>
            <a:r>
              <a:rPr lang="pt-BR" sz="1600" b="1" dirty="0">
                <a:solidFill>
                  <a:schemeClr val="tx2"/>
                </a:solidFill>
              </a:rPr>
              <a:t>de clientes </a:t>
            </a:r>
            <a:r>
              <a:rPr lang="pt-BR" sz="1600" dirty="0">
                <a:solidFill>
                  <a:schemeClr val="tx2"/>
                </a:solidFill>
              </a:rPr>
              <a:t>com financeiras, cadastrais, comportamentais e de </a:t>
            </a:r>
            <a:r>
              <a:rPr lang="pt-BR" sz="1600" dirty="0" smtClean="0">
                <a:solidFill>
                  <a:schemeClr val="tx2"/>
                </a:solidFill>
              </a:rPr>
              <a:t>risco. </a:t>
            </a:r>
            <a:r>
              <a:rPr lang="pt-BR" sz="1600" b="1" dirty="0" smtClean="0">
                <a:solidFill>
                  <a:schemeClr val="tx2"/>
                </a:solidFill>
              </a:rPr>
              <a:t>Base </a:t>
            </a:r>
            <a:r>
              <a:rPr lang="pt-BR" sz="1600" b="1" dirty="0">
                <a:solidFill>
                  <a:schemeClr val="tx2"/>
                </a:solidFill>
              </a:rPr>
              <a:t>de interações </a:t>
            </a:r>
            <a:r>
              <a:rPr lang="pt-BR" sz="1600" dirty="0">
                <a:solidFill>
                  <a:schemeClr val="tx2"/>
                </a:solidFill>
              </a:rPr>
              <a:t>informações sobre contatos, canais, resultados e histórico de interações. </a:t>
            </a:r>
            <a:r>
              <a:rPr lang="pt-BR" sz="1600" dirty="0">
                <a:solidFill>
                  <a:schemeClr val="tx2"/>
                </a:solidFill>
              </a:rPr>
              <a:t>Cliente, banco “tentando regularizar”</a:t>
            </a:r>
          </a:p>
          <a:p>
            <a:pPr marL="342900" lvl="0" indent="-342900">
              <a:spcBef>
                <a:spcPct val="20000"/>
              </a:spcBef>
              <a:buClr>
                <a:schemeClr val="accent1"/>
              </a:buClr>
              <a:buSzPct val="70000"/>
              <a:buFont typeface="Arial" charset="0"/>
              <a:buChar char="•"/>
            </a:pPr>
            <a:endParaRPr lang="pt-BR" sz="2000" dirty="0">
              <a:solidFill>
                <a:schemeClr val="tx2"/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endParaRPr kumimoji="0" lang="pt-BR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3212976"/>
            <a:ext cx="3168352" cy="2360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3212976"/>
            <a:ext cx="4822590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SOLUÇÃO ANALÍCA - analitics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pt-BR" sz="1800" b="1" dirty="0" smtClean="0"/>
              <a:t>Pergunta </a:t>
            </a:r>
            <a:r>
              <a:rPr lang="pt-BR" sz="1800" dirty="0" smtClean="0"/>
              <a:t>1.Qual</a:t>
            </a:r>
            <a:r>
              <a:rPr lang="pt-BR" sz="1800" b="1" dirty="0" smtClean="0"/>
              <a:t> </a:t>
            </a:r>
            <a:r>
              <a:rPr lang="pt-BR" sz="1800" dirty="0" smtClean="0"/>
              <a:t>o </a:t>
            </a:r>
            <a:r>
              <a:rPr lang="pt-BR" sz="1800" b="1" dirty="0" smtClean="0"/>
              <a:t>impacto dos dias em atraso </a:t>
            </a:r>
            <a:r>
              <a:rPr lang="pt-BR" sz="1800" dirty="0" smtClean="0"/>
              <a:t>na regularização nos próximos 30 dias? </a:t>
            </a:r>
          </a:p>
          <a:p>
            <a:pPr>
              <a:buFont typeface="Arial" charset="0"/>
              <a:buChar char="•"/>
            </a:pPr>
            <a:r>
              <a:rPr lang="pt-BR" sz="1800" b="1" dirty="0" smtClean="0"/>
              <a:t>Pergunta 2. </a:t>
            </a:r>
            <a:r>
              <a:rPr lang="pt-BR" sz="1800" dirty="0" smtClean="0"/>
              <a:t>Qual o impacto das parcelas vencidas na regularização nos próximos 30 dias?</a:t>
            </a:r>
          </a:p>
          <a:p>
            <a:pPr>
              <a:buFont typeface="Arial" charset="0"/>
              <a:buChar char="•"/>
            </a:pPr>
            <a:endParaRPr lang="pt-BR" sz="1800" dirty="0" smtClean="0"/>
          </a:p>
          <a:p>
            <a:pPr>
              <a:buFont typeface="Arial" charset="0"/>
              <a:buChar char="•"/>
            </a:pPr>
            <a:endParaRPr lang="pt-BR" sz="1800" dirty="0" smtClean="0"/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3" y="2780928"/>
            <a:ext cx="4392489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aixaDeTexto 4"/>
          <p:cNvSpPr txBox="1"/>
          <p:nvPr/>
        </p:nvSpPr>
        <p:spPr>
          <a:xfrm>
            <a:off x="3563888" y="6021288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Cor -0.36</a:t>
            </a:r>
            <a:endParaRPr lang="pt-BR" sz="12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2780928"/>
            <a:ext cx="4464496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8135888" y="6021288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Cor -0.26</a:t>
            </a:r>
            <a:endParaRPr lang="pt-BR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SOLUÇÃO ANALÍCA - analitics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</a:pPr>
            <a:r>
              <a:rPr lang="pt-BR" sz="1400" b="1" dirty="0" smtClean="0"/>
              <a:t>Pergunta 3.</a:t>
            </a:r>
            <a:r>
              <a:rPr lang="pt-BR" sz="1400" dirty="0" smtClean="0"/>
              <a:t> </a:t>
            </a:r>
            <a:r>
              <a:rPr lang="pt-BR" sz="1400" dirty="0" smtClean="0"/>
              <a:t>Como o saldo devedor impacta a probabilidade de regularização nos próximos 30 dias</a:t>
            </a:r>
            <a:r>
              <a:rPr lang="pt-BR" sz="1400" dirty="0" smtClean="0"/>
              <a:t>?</a:t>
            </a:r>
          </a:p>
          <a:p>
            <a:pPr>
              <a:buFont typeface="Arial" charset="0"/>
              <a:buChar char="•"/>
            </a:pPr>
            <a:r>
              <a:rPr lang="pt-BR" sz="1400" b="1" dirty="0" smtClean="0"/>
              <a:t>Pergunta </a:t>
            </a:r>
            <a:r>
              <a:rPr lang="pt-BR" sz="1400" b="1" dirty="0" smtClean="0"/>
              <a:t>4.</a:t>
            </a:r>
            <a:r>
              <a:rPr lang="pt-BR" sz="1400" dirty="0" smtClean="0"/>
              <a:t> Como a utilização do limite de crédito impacta a probabilidade de regularização nos próximos 30 dias?</a:t>
            </a:r>
            <a:endParaRPr lang="pt-BR" sz="1400" dirty="0" smtClean="0"/>
          </a:p>
          <a:p>
            <a:pPr>
              <a:buFont typeface="Arial" charset="0"/>
              <a:buChar char="•"/>
            </a:pPr>
            <a:r>
              <a:rPr lang="pt-BR" sz="1400" b="1" dirty="0" smtClean="0"/>
              <a:t>Pergunta </a:t>
            </a:r>
            <a:r>
              <a:rPr lang="pt-BR" sz="1400" b="1" dirty="0" smtClean="0"/>
              <a:t>5.</a:t>
            </a:r>
            <a:r>
              <a:rPr lang="pt-BR" sz="1400" dirty="0" smtClean="0"/>
              <a:t> </a:t>
            </a:r>
            <a:r>
              <a:rPr lang="pt-BR" sz="1400" dirty="0" smtClean="0"/>
              <a:t>Clientes com promessa de pagamento apresentam maior taxa de regularização nos próximos 30 dias?</a:t>
            </a:r>
          </a:p>
          <a:p>
            <a:pPr>
              <a:buFont typeface="Arial" charset="0"/>
              <a:buChar char="•"/>
            </a:pPr>
            <a:endParaRPr lang="pt-BR" sz="1200" dirty="0" smtClean="0"/>
          </a:p>
          <a:p>
            <a:pPr>
              <a:buFont typeface="Arial" charset="0"/>
              <a:buChar char="•"/>
            </a:pPr>
            <a:endParaRPr lang="pt-BR" sz="1800" dirty="0" smtClean="0"/>
          </a:p>
          <a:p>
            <a:pPr>
              <a:buFont typeface="Arial" charset="0"/>
              <a:buChar char="•"/>
            </a:pPr>
            <a:endParaRPr lang="pt-BR" sz="1800" dirty="0" smtClean="0"/>
          </a:p>
          <a:p>
            <a:pPr>
              <a:buFont typeface="Arial" charset="0"/>
              <a:buChar char="•"/>
            </a:pPr>
            <a:endParaRPr lang="pt-BR" sz="1800" dirty="0" smtClean="0"/>
          </a:p>
          <a:p>
            <a:pPr>
              <a:buFont typeface="Arial" charset="0"/>
              <a:buChar char="•"/>
            </a:pPr>
            <a:endParaRPr lang="pt-BR" sz="1800" dirty="0" smtClean="0"/>
          </a:p>
          <a:p>
            <a:pPr>
              <a:buFont typeface="Arial" charset="0"/>
              <a:buChar char="•"/>
            </a:pPr>
            <a:endParaRPr lang="pt-BR" sz="1800" dirty="0" smtClean="0"/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780928"/>
            <a:ext cx="4320480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aixaDeTexto 7"/>
          <p:cNvSpPr txBox="1"/>
          <p:nvPr/>
        </p:nvSpPr>
        <p:spPr>
          <a:xfrm>
            <a:off x="8172400" y="6237312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Cor: -0.034</a:t>
            </a:r>
            <a:endParaRPr lang="pt-BR" sz="1200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2780928"/>
            <a:ext cx="4320480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aixaDeTexto 10"/>
          <p:cNvSpPr txBox="1"/>
          <p:nvPr/>
        </p:nvSpPr>
        <p:spPr>
          <a:xfrm>
            <a:off x="3563888" y="6309320"/>
            <a:ext cx="1008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/>
              <a:t>Cor: -0.052</a:t>
            </a:r>
            <a:endParaRPr lang="pt-BR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 SOLUÇÃO ANALÍCA </a:t>
            </a:r>
            <a:r>
              <a:rPr lang="pt-BR" dirty="0" smtClean="0"/>
              <a:t> - O MODELO PREDITIVO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dirty="0" smtClean="0"/>
              <a:t>Objetivo: prever os clientes propensos a regularizarem dentro do próximos 30 dias</a:t>
            </a:r>
            <a:r>
              <a:rPr lang="pt-BR" sz="2800" dirty="0" smtClean="0"/>
              <a:t>.</a:t>
            </a:r>
          </a:p>
          <a:p>
            <a:r>
              <a:rPr lang="pt-BR" sz="2000" dirty="0" smtClean="0"/>
              <a:t>Treino de 5 meses, teste 1 mês</a:t>
            </a:r>
            <a:r>
              <a:rPr lang="pt-BR" sz="2800" dirty="0" smtClean="0"/>
              <a:t>.</a:t>
            </a:r>
          </a:p>
          <a:p>
            <a:endParaRPr lang="pt-BR" sz="2800" dirty="0" smtClean="0"/>
          </a:p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3075" name="Picture 3" descr="C:\Users\roger\Downloads\horizonte_previsao.drawi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2924944"/>
            <a:ext cx="8388160" cy="33123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 SOLUÇÃO ANALÍCA </a:t>
            </a:r>
            <a:r>
              <a:rPr lang="pt-BR" dirty="0" smtClean="0"/>
              <a:t> - FEATURES, IMPORTÂNCIA, MÉTRICAS, MODELO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sz="2800" dirty="0" smtClean="0"/>
          </a:p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916832"/>
            <a:ext cx="8543925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paço Reservado para Conteúdo 2"/>
          <p:cNvSpPr txBox="1">
            <a:spLocks/>
          </p:cNvSpPr>
          <p:nvPr/>
        </p:nvSpPr>
        <p:spPr>
          <a:xfrm>
            <a:off x="251520" y="1412776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r>
              <a:rPr lang="pt-BR" sz="2000" noProof="0" dirty="0" smtClean="0">
                <a:solidFill>
                  <a:schemeClr val="tx2"/>
                </a:solidFill>
              </a:rPr>
              <a:t>Modelo campeão: </a:t>
            </a:r>
            <a:r>
              <a:rPr lang="pt-BR" sz="2000" noProof="0" dirty="0" err="1" smtClean="0">
                <a:solidFill>
                  <a:schemeClr val="tx2"/>
                </a:solidFill>
              </a:rPr>
              <a:t>XGBoost</a:t>
            </a:r>
            <a:r>
              <a:rPr lang="pt-BR" sz="2000" noProof="0" dirty="0" smtClean="0">
                <a:solidFill>
                  <a:schemeClr val="tx2"/>
                </a:solidFill>
              </a:rPr>
              <a:t> entre </a:t>
            </a:r>
            <a:r>
              <a:rPr lang="pt-BR" sz="2000" noProof="0" dirty="0" err="1" smtClean="0">
                <a:solidFill>
                  <a:schemeClr val="tx2"/>
                </a:solidFill>
              </a:rPr>
              <a:t>Decisio</a:t>
            </a:r>
            <a:r>
              <a:rPr lang="pt-BR" sz="2000" noProof="0" dirty="0" smtClean="0">
                <a:solidFill>
                  <a:schemeClr val="tx2"/>
                </a:solidFill>
              </a:rPr>
              <a:t>, </a:t>
            </a:r>
            <a:r>
              <a:rPr lang="pt-BR" sz="2000" noProof="0" dirty="0" err="1" smtClean="0">
                <a:solidFill>
                  <a:schemeClr val="tx2"/>
                </a:solidFill>
              </a:rPr>
              <a:t>Random</a:t>
            </a:r>
            <a:r>
              <a:rPr lang="pt-BR" sz="2000" noProof="0" dirty="0" smtClean="0">
                <a:solidFill>
                  <a:schemeClr val="tx2"/>
                </a:solidFill>
              </a:rPr>
              <a:t> Forest.</a:t>
            </a:r>
            <a:endParaRPr kumimoji="0" lang="pt-BR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endParaRPr kumimoji="0" lang="pt-BR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endParaRPr kumimoji="0" lang="pt-BR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6156176" y="4941168"/>
          <a:ext cx="2520279" cy="1475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093"/>
                <a:gridCol w="840093"/>
                <a:gridCol w="840093"/>
              </a:tblGrid>
              <a:tr h="199588"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Métrica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Treino 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Teste </a:t>
                      </a:r>
                      <a:endParaRPr lang="pt-BR" sz="1100" dirty="0"/>
                    </a:p>
                  </a:txBody>
                  <a:tcPr/>
                </a:tc>
              </a:tr>
              <a:tr h="349278">
                <a:tc>
                  <a:txBody>
                    <a:bodyPr/>
                    <a:lstStyle/>
                    <a:p>
                      <a:r>
                        <a:rPr lang="pt-BR" sz="1100" dirty="0" err="1" smtClean="0"/>
                        <a:t>Acurácia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0.70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0.62</a:t>
                      </a:r>
                      <a:endParaRPr lang="pt-BR" sz="1100" dirty="0"/>
                    </a:p>
                  </a:txBody>
                  <a:tcPr/>
                </a:tc>
              </a:tr>
              <a:tr h="349278"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Precisão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0.69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0.54</a:t>
                      </a:r>
                      <a:endParaRPr lang="pt-BR" sz="1100" dirty="0"/>
                    </a:p>
                  </a:txBody>
                  <a:tcPr/>
                </a:tc>
              </a:tr>
              <a:tr h="199588"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Recall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0.78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0.72</a:t>
                      </a:r>
                      <a:endParaRPr lang="pt-BR" sz="1100" dirty="0"/>
                    </a:p>
                  </a:txBody>
                  <a:tcPr/>
                </a:tc>
              </a:tr>
              <a:tr h="199588"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F-1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0.73</a:t>
                      </a:r>
                      <a:endParaRPr lang="pt-B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 smtClean="0"/>
                        <a:t>0.61</a:t>
                      </a:r>
                      <a:endParaRPr lang="pt-BR" sz="11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Solução ANALÍTICA – o assistente autônomo(recomendador)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sz="2800" dirty="0" smtClean="0"/>
          </a:p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457200" y="17065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r>
              <a:rPr lang="pt-BR" sz="2000" noProof="0" dirty="0" smtClean="0">
                <a:solidFill>
                  <a:schemeClr val="tx2"/>
                </a:solidFill>
              </a:rPr>
              <a:t>.</a:t>
            </a:r>
            <a:endParaRPr kumimoji="0" lang="pt-BR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endParaRPr kumimoji="0" lang="pt-BR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endParaRPr kumimoji="0" lang="pt-BR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099" name="Picture 3" descr="C:\Users\roger\Downloads\Gemini_Generated_Image_51omfh51omfh51om.jf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988840"/>
            <a:ext cx="7998887" cy="4464496"/>
          </a:xfrm>
          <a:prstGeom prst="rect">
            <a:avLst/>
          </a:prstGeom>
          <a:noFill/>
        </p:spPr>
      </p:pic>
      <p:sp>
        <p:nvSpPr>
          <p:cNvPr id="9" name="Espaço Reservado para Conteúdo 2"/>
          <p:cNvSpPr txBox="1">
            <a:spLocks/>
          </p:cNvSpPr>
          <p:nvPr/>
        </p:nvSpPr>
        <p:spPr>
          <a:xfrm>
            <a:off x="251520" y="1412776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r>
              <a:rPr lang="pt-BR" sz="2000" noProof="0" dirty="0" smtClean="0">
                <a:solidFill>
                  <a:schemeClr val="tx2"/>
                </a:solidFill>
              </a:rPr>
              <a:t>Recomendador etapas: 1. Dados, 2. </a:t>
            </a:r>
            <a:r>
              <a:rPr lang="pt-BR" sz="2000" noProof="0" dirty="0" err="1" smtClean="0">
                <a:solidFill>
                  <a:schemeClr val="tx2"/>
                </a:solidFill>
              </a:rPr>
              <a:t>Po</a:t>
            </a:r>
            <a:r>
              <a:rPr lang="pt-BR" sz="2000" dirty="0" smtClean="0">
                <a:solidFill>
                  <a:schemeClr val="tx2"/>
                </a:solidFill>
              </a:rPr>
              <a:t>líticas, 3. Raciocínio, 4. Saída.</a:t>
            </a:r>
            <a:endParaRPr kumimoji="0" lang="pt-BR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endParaRPr kumimoji="0" lang="pt-BR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endParaRPr kumimoji="0" lang="pt-BR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Solução ANALÍTICA – o assistente autônomo(recomendador</a:t>
            </a:r>
            <a:r>
              <a:rPr lang="pt-BR" dirty="0" smtClean="0"/>
              <a:t>), EXEMPLO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sz="2800" dirty="0" smtClean="0"/>
          </a:p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457200" y="17065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42900" lvl="0" indent="-342900">
              <a:spcBef>
                <a:spcPct val="20000"/>
              </a:spcBef>
              <a:buClr>
                <a:schemeClr val="accent1"/>
              </a:buClr>
              <a:buSzPct val="70000"/>
              <a:buFont typeface="Arial" charset="0"/>
              <a:buChar char="•"/>
            </a:pPr>
            <a:r>
              <a:rPr lang="pt-BR" dirty="0" smtClean="0">
                <a:solidFill>
                  <a:schemeClr val="tx2"/>
                </a:solidFill>
              </a:rPr>
              <a:t>Dê-me </a:t>
            </a:r>
            <a:r>
              <a:rPr lang="pt-BR" b="1" dirty="0" smtClean="0">
                <a:solidFill>
                  <a:schemeClr val="tx2"/>
                </a:solidFill>
              </a:rPr>
              <a:t>recomendação</a:t>
            </a:r>
            <a:r>
              <a:rPr lang="pt-BR" dirty="0" smtClean="0">
                <a:solidFill>
                  <a:schemeClr val="tx2"/>
                </a:solidFill>
              </a:rPr>
              <a:t> </a:t>
            </a:r>
            <a:r>
              <a:rPr lang="pt-BR" dirty="0">
                <a:solidFill>
                  <a:schemeClr val="tx2"/>
                </a:solidFill>
              </a:rPr>
              <a:t>o que posso fazer com o cliente </a:t>
            </a:r>
            <a:r>
              <a:rPr lang="pt-BR" b="1" dirty="0" smtClean="0">
                <a:solidFill>
                  <a:schemeClr val="tx2"/>
                </a:solidFill>
              </a:rPr>
              <a:t>PJ0004</a:t>
            </a:r>
            <a:r>
              <a:rPr lang="pt-BR" dirty="0" smtClean="0">
                <a:solidFill>
                  <a:schemeClr val="tx2"/>
                </a:solidFill>
              </a:rPr>
              <a:t>?</a:t>
            </a:r>
            <a:endParaRPr kumimoji="0" lang="pt-BR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charset="0"/>
              <a:buChar char="•"/>
              <a:tabLst/>
              <a:defRPr/>
            </a:pPr>
            <a:endParaRPr kumimoji="0" lang="pt-BR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Arial" charset="0"/>
              <a:buChar char="•"/>
              <a:tabLst/>
              <a:defRPr/>
            </a:pPr>
            <a:endParaRPr kumimoji="0" lang="pt-BR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endParaRPr kumimoji="0" lang="pt-BR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"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060848"/>
            <a:ext cx="83058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Solução ANALÍTICA – o assistente autônomo(recomendador)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sz="2800" dirty="0" smtClean="0"/>
          </a:p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412776"/>
            <a:ext cx="8502149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sz="2800" dirty="0" smtClean="0"/>
          </a:p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51520" y="3140968"/>
            <a:ext cx="8686800" cy="838200"/>
          </a:xfrm>
        </p:spPr>
        <p:txBody>
          <a:bodyPr/>
          <a:lstStyle/>
          <a:p>
            <a:r>
              <a:rPr lang="pt-BR" dirty="0" smtClean="0"/>
              <a:t>Muito obrigado </a:t>
            </a:r>
            <a:r>
              <a:rPr lang="pt-BR" dirty="0" smtClean="0">
                <a:sym typeface="Wingdings" pitchFamily="2" charset="2"/>
              </a:rPr>
              <a:t></a:t>
            </a:r>
            <a:endParaRPr lang="pt-BR" dirty="0"/>
          </a:p>
        </p:txBody>
      </p:sp>
      <p:pic>
        <p:nvPicPr>
          <p:cNvPr id="5" name="Imagem 4" descr="logo-RS-0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956376" y="0"/>
            <a:ext cx="980728" cy="980728"/>
          </a:xfrm>
          <a:prstGeom prst="rect">
            <a:avLst/>
          </a:prstGeom>
        </p:spPr>
      </p:pic>
      <p:pic>
        <p:nvPicPr>
          <p:cNvPr id="6" name="Imagem 5" descr="itau_log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80312" y="260648"/>
            <a:ext cx="504056" cy="4955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i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Viagem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Viagem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133</TotalTime>
  <Words>296</Words>
  <Application>Microsoft Office PowerPoint</Application>
  <PresentationFormat>Apresentação na tela (4:3)</PresentationFormat>
  <Paragraphs>73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Viagem</vt:lpstr>
      <vt:lpstr>Inteligência que recupera empresas, oportunidades que transformar negócios</vt:lpstr>
      <vt:lpstr>A SOLUÇÃO ANALÍCA - analitics</vt:lpstr>
      <vt:lpstr>A SOLUÇÃO ANALÍCA - analitics</vt:lpstr>
      <vt:lpstr>A SOLUÇÃO ANALÍCA - analitics</vt:lpstr>
      <vt:lpstr>A SOLUÇÃO ANALÍCA  - O MODELO PREDITIVO</vt:lpstr>
      <vt:lpstr>A SOLUÇÃO ANALÍCA  - FEATURES, IMPORTÂNCIA, MÉTRICAS, MODELO</vt:lpstr>
      <vt:lpstr>Solução ANALÍTICA – o assistente autônomo(recomendador)</vt:lpstr>
      <vt:lpstr>Solução ANALÍTICA – o assistente autônomo(recomendador), EXEMPLO</vt:lpstr>
      <vt:lpstr>Solução ANALÍTICA – o assistente autônomo(recomendador)</vt:lpstr>
      <vt:lpstr>Muito obrigado 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Roger Sampaio</dc:creator>
  <cp:lastModifiedBy>Roger Sampaio</cp:lastModifiedBy>
  <cp:revision>27</cp:revision>
  <dcterms:created xsi:type="dcterms:W3CDTF">2026-08-24T15:25:08Z</dcterms:created>
  <dcterms:modified xsi:type="dcterms:W3CDTF">2026-08-24T17:38:23Z</dcterms:modified>
</cp:coreProperties>
</file>